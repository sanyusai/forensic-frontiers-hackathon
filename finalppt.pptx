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70" r:id="rId12"/>
    <p:sldId id="265" r:id="rId13"/>
    <p:sldId id="266" r:id="rId14"/>
    <p:sldId id="267" r:id="rId15"/>
    <p:sldId id="271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45DD2"/>
          </a:solidFill>
          <a:ln>
            <a:solidFill>
              <a:srgbClr val="745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78992"/>
            <a:ext cx="4663440" cy="6583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endParaRPr sz="3800" b="1" i="0" dirty="0">
              <a:solidFill>
                <a:srgbClr val="F5F8FC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2029968"/>
            <a:ext cx="6400800" cy="6583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800" b="1" i="0" dirty="0">
                <a:solidFill>
                  <a:srgbClr val="F5F8FC"/>
                </a:solidFill>
                <a:latin typeface="Aptos Display"/>
              </a:rPr>
              <a:t>ATTAHMENT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035808"/>
            <a:ext cx="5212080" cy="6583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800" b="1" i="0">
                <a:solidFill>
                  <a:srgbClr val="F5F8FC"/>
                </a:solidFill>
                <a:latin typeface="Aptos Display"/>
              </a:rPr>
              <a:t>MALWARE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4005072"/>
            <a:ext cx="5120640" cy="6583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800" b="1" i="0">
                <a:solidFill>
                  <a:srgbClr val="F5F8FC"/>
                </a:solidFill>
                <a:latin typeface="Aptos Display"/>
              </a:rPr>
              <a:t>SCANNER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737360"/>
            <a:ext cx="2834640" cy="36576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0624" y="2743200"/>
            <a:ext cx="3657600" cy="36576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" y="5010912"/>
            <a:ext cx="3657600" cy="36576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5925312"/>
            <a:ext cx="777240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B4C3DA"/>
                </a:solidFill>
                <a:latin typeface="Aptos"/>
              </a:rPr>
              <a:t>AI-ASSISTED DFIR • PHISHING • MALWARE •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25328" y="502920"/>
            <a:ext cx="822960" cy="7315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4600" b="1" i="0">
                <a:solidFill>
                  <a:srgbClr val="F5F8FC"/>
                </a:solidFill>
                <a:latin typeface="Aptos Display"/>
              </a:rPr>
              <a:t>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5961888"/>
            <a:ext cx="196596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B4C3DA"/>
                </a:solidFill>
                <a:latin typeface="Aptos"/>
              </a:rPr>
              <a:t>SECURITY ANALYSIS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314EBA-2314-024A-BEDA-C15638945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00"/>
            <a:ext cx="12192000" cy="681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325880"/>
            <a:ext cx="3611880" cy="452628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" y="1325880"/>
            <a:ext cx="64008" cy="4526280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322783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MALWARE 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856231"/>
            <a:ext cx="3227832" cy="3867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B4C3DA"/>
                </a:solidFill>
                <a:latin typeface="Aptos"/>
              </a:rPr>
              <a:t>• Securely transfer suspicious attachments to an isolated analysis environment
• Perform static malware analysis using hashes, magic bytes, entropy, strings, PE/Office analysis and YARA
• Classify malware and calculate a threat score using analysis results and threat-intelligence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1325880"/>
            <a:ext cx="3611880" cy="452628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24528" y="1325880"/>
            <a:ext cx="64008" cy="4526280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25696" y="1481328"/>
            <a:ext cx="322783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EMAIL 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856231"/>
            <a:ext cx="3227832" cy="3867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B4C3DA"/>
                </a:solidFill>
                <a:latin typeface="Aptos"/>
              </a:rPr>
              <a:t>• Securely ingest emails through read-only Gmail integration and extract forensic evidence
• Perform SPF, DKIM, DMARC, header, URL, sender and social-engineering checks
• Generate an explainable phishing risk score and verdict from combined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325880"/>
            <a:ext cx="3611880" cy="452628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56448" y="1325880"/>
            <a:ext cx="64008" cy="4526280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7616" y="1481328"/>
            <a:ext cx="322783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REPORT GENERATION + IOC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1856231"/>
            <a:ext cx="3227832" cy="3867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B4C3DA"/>
                </a:solidFill>
                <a:latin typeface="Aptos"/>
              </a:rPr>
              <a:t>• Correlate email and malware findings into a unified security assessment
• Generate a DFIR-style report containing verdict, evidence, threat score and recommended actions
• Extract IOCs such as malicious IPs, domains, URLs, hashes and suspicious artifacts.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TECHNICAL APPROACH FOR EMAIL 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B4C3DA"/>
                </a:solidFill>
                <a:latin typeface="Aptos"/>
              </a:rPr>
              <a:t>Structured forensic analysis rather than a single black-box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16152"/>
            <a:ext cx="493776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B4C3DA"/>
                </a:solidFill>
                <a:latin typeface="Aptos"/>
              </a:rPr>
              <a:t>EMAIL ANALYSIS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B4C3DA"/>
                </a:solidFill>
                <a:latin typeface="Aptos"/>
              </a:rPr>
              <a:t>Technical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75104"/>
            <a:ext cx="1572768" cy="603504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1481328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20" b="1" i="0">
                <a:solidFill>
                  <a:srgbClr val="B4C3DA"/>
                </a:solidFill>
                <a:latin typeface="Aptos"/>
              </a:rPr>
              <a:t>Gmail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7984" y="2103120"/>
            <a:ext cx="310896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4FCDE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975104"/>
            <a:ext cx="1572768" cy="603504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2084831"/>
            <a:ext cx="1481328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20" b="1" i="0">
                <a:solidFill>
                  <a:srgbClr val="B4C3DA"/>
                </a:solidFill>
                <a:latin typeface="Aptos"/>
              </a:rPr>
              <a:t>Email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5" y="2103120"/>
            <a:ext cx="310896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4FCDE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975104"/>
            <a:ext cx="1874519" cy="603504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2084831"/>
            <a:ext cx="1783079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20" b="1" i="0">
                <a:solidFill>
                  <a:srgbClr val="B4C3DA"/>
                </a:solidFill>
                <a:latin typeface="Aptos"/>
              </a:rPr>
              <a:t>Evidence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310896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4FCDE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4536" y="1975104"/>
            <a:ext cx="1572768" cy="603504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0255" y="2084831"/>
            <a:ext cx="1481328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20" b="1" i="0">
                <a:solidFill>
                  <a:srgbClr val="B4C3DA"/>
                </a:solidFill>
                <a:latin typeface="Aptos"/>
              </a:rPr>
              <a:t>Security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103120"/>
            <a:ext cx="310896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4FCDE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76488" y="1975104"/>
            <a:ext cx="1572768" cy="603504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22208" y="2084831"/>
            <a:ext cx="1481328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20" b="1" i="0">
                <a:solidFill>
                  <a:srgbClr val="B4C3DA"/>
                </a:solidFill>
                <a:latin typeface="Aptos"/>
              </a:rPr>
              <a:t>Risk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67544" y="2103120"/>
            <a:ext cx="310896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4FCDE8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78440" y="1975104"/>
            <a:ext cx="1572768" cy="603504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2084831"/>
            <a:ext cx="1481328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20" b="1" i="0">
                <a:solidFill>
                  <a:srgbClr val="B4C3DA"/>
                </a:solidFill>
                <a:latin typeface="Aptos"/>
              </a:rPr>
              <a:t>Explainable Result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926080"/>
            <a:ext cx="5349240" cy="257860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2926080"/>
            <a:ext cx="64008" cy="2578608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" y="3081528"/>
            <a:ext cx="496519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EVIDENCE EXTRACTION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456432"/>
            <a:ext cx="4965192" cy="1920239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B4C3DA"/>
                </a:solidFill>
                <a:latin typeface="Aptos"/>
              </a:rPr>
              <a:t>• Email headers &amp; sender information
• Authentication results
• Domains &amp; IP addresses
• URLs &amp; email body / HTML
• Attachments
• Metadata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926080"/>
            <a:ext cx="5349240" cy="257860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2926080"/>
            <a:ext cx="64008" cy="2578608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3081528"/>
            <a:ext cx="496519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KEY 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456432"/>
            <a:ext cx="4965192" cy="1920239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B4C3DA"/>
                </a:solidFill>
                <a:latin typeface="Aptos"/>
              </a:rPr>
              <a:t>Each security check returns an individual result:
✓ PASS   ⚠ SUSPICIOUS   ✕ FAIL
Every finding carries technical evidence, risk contribution, explanation and a recommended 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EMAIL SECURITY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B4C3DA"/>
                </a:solidFill>
                <a:latin typeface="Aptos"/>
              </a:rPr>
              <a:t>Multiple layers are evaluated before the final trust score is produced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0789919" cy="493776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399032"/>
            <a:ext cx="242316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4C3DA"/>
                </a:solidFill>
                <a:latin typeface="Aptos"/>
              </a:rPr>
              <a:t>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688" y="1399032"/>
            <a:ext cx="800100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4C3DA"/>
                </a:solidFill>
                <a:latin typeface="Aptos"/>
              </a:rPr>
              <a:t>TECHNICAL CHECKS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9656"/>
            <a:ext cx="10789919" cy="630936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892807"/>
            <a:ext cx="2423160" cy="521207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B4C3DA"/>
                </a:solidFill>
                <a:latin typeface="Aptos"/>
              </a:rPr>
              <a:t>Sender &amp;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1892807"/>
            <a:ext cx="7982711" cy="521207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70" b="0" i="0">
                <a:solidFill>
                  <a:srgbClr val="B4C3DA"/>
                </a:solidFill>
                <a:latin typeface="Aptos"/>
              </a:rPr>
              <a:t>SPF • DKIM • DMARC • From / Reply-To • Return-Path • Message-ID • Received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50591"/>
            <a:ext cx="10789919" cy="630936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2523744"/>
            <a:ext cx="2423160" cy="521207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B4C3DA"/>
                </a:solidFill>
                <a:latin typeface="Aptos"/>
              </a:rPr>
              <a:t>Domain &amp;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523744"/>
            <a:ext cx="7982711" cy="521207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70" b="0" i="0">
                <a:solidFill>
                  <a:srgbClr val="B4C3DA"/>
                </a:solidFill>
                <a:latin typeface="Aptos"/>
              </a:rPr>
              <a:t>Domain reputation • lookalike domains • typosquatting • impersonation • sender 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81528"/>
            <a:ext cx="10789919" cy="630936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3154680"/>
            <a:ext cx="2423160" cy="521207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B4C3DA"/>
                </a:solidFill>
                <a:latin typeface="Aptos"/>
              </a:rPr>
              <a:t>URL &amp;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3154680"/>
            <a:ext cx="7982711" cy="521207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70" b="0" i="0">
                <a:solidFill>
                  <a:srgbClr val="B4C3DA"/>
                </a:solidFill>
                <a:latin typeface="Aptos"/>
              </a:rPr>
              <a:t>URL extraction • redirects • suspicious destinations • urgency • credential requests • social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12463"/>
            <a:ext cx="10789919" cy="630936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3785615"/>
            <a:ext cx="2423160" cy="521207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B4C3DA"/>
                </a:solidFill>
                <a:latin typeface="Aptos"/>
              </a:rPr>
              <a:t>Metadata &amp; Forensics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785615"/>
            <a:ext cx="7982711" cy="521207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70" b="0" i="0">
                <a:solidFill>
                  <a:srgbClr val="B4C3DA"/>
                </a:solidFill>
                <a:latin typeface="Aptos"/>
              </a:rPr>
              <a:t>Timestamp consistency • embedded metadata • author information • suspicious artifacts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43400"/>
            <a:ext cx="10789919" cy="630936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4416552"/>
            <a:ext cx="2423160" cy="521207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B4C3DA"/>
                </a:solidFill>
                <a:latin typeface="Aptos"/>
              </a:rPr>
              <a:t>Attachment Indicators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4416552"/>
            <a:ext cx="7982711" cy="521207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70" b="0" i="0">
                <a:solidFill>
                  <a:srgbClr val="B4C3DA"/>
                </a:solidFill>
                <a:latin typeface="Aptos"/>
              </a:rPr>
              <a:t>Attachment presence • file type • filename tricks • suspicious extensions • handoff to malware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532120"/>
            <a:ext cx="10789920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B4C3DA"/>
                </a:solidFill>
                <a:latin typeface="Aptos"/>
              </a:rPr>
              <a:t>Output: PASS / SUSPICIOUS / FAIL + evidence + risk contribution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EMAIL SCANNER — ATTACK / ANALYSIS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2057400" cy="65836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1965960" cy="512063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B4C3DA"/>
                </a:solidFill>
                <a:latin typeface="Aptos"/>
              </a:rPr>
              <a:t>SUSPICIOUS EMAIL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417320"/>
            <a:ext cx="2148840" cy="658368"/>
          </a:xfrm>
          <a:prstGeom prst="round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0" y="1499616"/>
            <a:ext cx="2057400" cy="512063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B4C3DA"/>
                </a:solidFill>
                <a:latin typeface="Aptos"/>
              </a:rPr>
              <a:t>Gmail API
(Read-only ingestion)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417320"/>
            <a:ext cx="2148840" cy="658368"/>
          </a:xfrm>
          <a:prstGeom prst="round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0" y="1499616"/>
            <a:ext cx="2057400" cy="512063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B4C3DA"/>
                </a:solidFill>
                <a:latin typeface="Aptos"/>
              </a:rPr>
              <a:t>Email Parsing &amp;
Evidence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17320"/>
            <a:ext cx="2057400" cy="658368"/>
          </a:xfrm>
          <a:prstGeom prst="round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499616"/>
            <a:ext cx="1965960" cy="512063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B4C3DA"/>
                </a:solidFill>
                <a:latin typeface="Aptos"/>
              </a:rPr>
              <a:t>Security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788920"/>
            <a:ext cx="2148840" cy="65836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2871215"/>
            <a:ext cx="2057400" cy="512063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B4C3DA"/>
                </a:solidFill>
                <a:latin typeface="Aptos"/>
              </a:rPr>
              <a:t>Risk / Trust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2788920"/>
            <a:ext cx="2148840" cy="65836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2871215"/>
            <a:ext cx="2057400" cy="512063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B4C3DA"/>
                </a:solidFill>
                <a:latin typeface="Aptos"/>
              </a:rPr>
              <a:t>Verdict +
Explainable Findings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788920"/>
            <a:ext cx="2057400" cy="65836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2871215"/>
            <a:ext cx="1965960" cy="512063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B4C3DA"/>
                </a:solidFill>
                <a:latin typeface="Aptos"/>
              </a:rPr>
              <a:t>Attachment
Detected?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160520"/>
            <a:ext cx="2057400" cy="658368"/>
          </a:xfrm>
          <a:prstGeom prst="roundRect">
            <a:avLst/>
          </a:prstGeom>
          <a:solidFill>
            <a:srgbClr val="4E2828"/>
          </a:solidFill>
          <a:ln>
            <a:solidFill>
              <a:srgbClr val="4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4242816"/>
            <a:ext cx="1965960" cy="512063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B4C3DA"/>
                </a:solidFill>
                <a:latin typeface="Aptos"/>
              </a:rPr>
              <a:t>Malware Analyzer
(next module)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5257800"/>
            <a:ext cx="2743200" cy="658368"/>
          </a:xfrm>
          <a:prstGeom prst="roundRect">
            <a:avLst/>
          </a:prstGeom>
          <a:solidFill>
            <a:srgbClr val="745DD2"/>
          </a:solidFill>
          <a:ln>
            <a:solidFill>
              <a:srgbClr val="745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59" y="5340096"/>
            <a:ext cx="2651760" cy="512063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B4C3DA"/>
                </a:solidFill>
                <a:latin typeface="Aptos"/>
              </a:rPr>
              <a:t>Unified Risk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20" y="1746504"/>
            <a:ext cx="411480" cy="0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20640" y="1746504"/>
            <a:ext cx="411480" cy="0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80960" y="1746504"/>
            <a:ext cx="411480" cy="0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041648" y="2075688"/>
            <a:ext cx="5084064" cy="713232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20640" y="3118104"/>
            <a:ext cx="411480" cy="0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60" y="3118104"/>
            <a:ext cx="411480" cy="0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25712" y="3447288"/>
            <a:ext cx="0" cy="713232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05672" y="3639312"/>
            <a:ext cx="640080" cy="2286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B4C3DA"/>
                </a:solidFill>
                <a:latin typeface="Aptos"/>
              </a:rPr>
              <a:t>YES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178040" y="4489704"/>
            <a:ext cx="914400" cy="768096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4041648" y="3447288"/>
            <a:ext cx="1764792" cy="1810512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281160" y="3593592"/>
            <a:ext cx="2103120" cy="5029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4C3DA"/>
                </a:solidFill>
                <a:latin typeface="Aptos"/>
              </a:rPr>
              <a:t>NO → continue with email-only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062472"/>
            <a:ext cx="10835640" cy="34747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20" b="0" i="0">
                <a:solidFill>
                  <a:srgbClr val="B4C3DA"/>
                </a:solidFill>
                <a:latin typeface="Aptos"/>
              </a:rPr>
              <a:t>The email scanner produces the evidence and score; suspicious attachments are handed to the malware-analysis pipeline.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5984C-9289-3757-408F-BE033AEA9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MALWARE SCANNER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B4C3DA"/>
                </a:solidFill>
                <a:latin typeface="Aptos"/>
              </a:rPr>
              <a:t>Planned next module: isolate first, analyse 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502920" cy="45720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4FCDE8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61872" y="1271016"/>
            <a:ext cx="9966960" cy="7132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61872" y="1271016"/>
            <a:ext cx="64008" cy="713232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39" y="1426463"/>
            <a:ext cx="958291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Attachment Handoff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39" y="1801367"/>
            <a:ext cx="9582912" cy="548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B4C3DA"/>
                </a:solidFill>
                <a:latin typeface="Aptos"/>
              </a:rPr>
              <a:t>Create Case ID and securely retrieve the attachment from Gmail.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58568"/>
            <a:ext cx="502920" cy="45720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4FCDE8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1872" y="2231136"/>
            <a:ext cx="9966960" cy="7132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61872" y="2231136"/>
            <a:ext cx="64008" cy="713232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39" y="2386584"/>
            <a:ext cx="958291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Isolated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39" y="2761488"/>
            <a:ext cx="9582912" cy="548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B4C3DA"/>
                </a:solidFill>
                <a:latin typeface="Aptos"/>
              </a:rPr>
              <a:t>Place the sample in a temporary analysis environment — never execute it on the web host.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218688"/>
            <a:ext cx="502920" cy="45720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4FCDE8"/>
                </a:solidFill>
                <a:latin typeface="Aptos"/>
              </a:rP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1872" y="3191256"/>
            <a:ext cx="9966960" cy="7132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61872" y="3191256"/>
            <a:ext cx="64008" cy="713232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39" y="3346704"/>
            <a:ext cx="958291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Static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39" y="3721608"/>
            <a:ext cx="9582912" cy="548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B4C3DA"/>
                </a:solidFill>
                <a:latin typeface="Aptos"/>
              </a:rPr>
              <a:t>Inspect hashes, type, entropy, strings, PE/Office structure, archives and YARA.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178808"/>
            <a:ext cx="502920" cy="45720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4FCDE8"/>
                </a:solidFill>
                <a:latin typeface="Aptos"/>
              </a:rP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61872" y="4151376"/>
            <a:ext cx="9966960" cy="7132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61872" y="4151376"/>
            <a:ext cx="64008" cy="713232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39" y="4306824"/>
            <a:ext cx="958291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Threat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39" y="4681728"/>
            <a:ext cx="9582912" cy="548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B4C3DA"/>
                </a:solidFill>
                <a:latin typeface="Aptos"/>
              </a:rPr>
              <a:t>Check hashes and discovered indicators against approved intelligence sources.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138928"/>
            <a:ext cx="502920" cy="45720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4FCDE8"/>
                </a:solidFill>
                <a:latin typeface="Aptos"/>
              </a:rPr>
              <a:t>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61872" y="5111496"/>
            <a:ext cx="9966960" cy="7132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61872" y="5111496"/>
            <a:ext cx="64008" cy="713232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63039" y="5266944"/>
            <a:ext cx="958291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39" y="5641848"/>
            <a:ext cx="9582912" cy="548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B4C3DA"/>
                </a:solidFill>
                <a:latin typeface="Aptos"/>
              </a:rPr>
              <a:t>Combine evidence into a malware classification and threat score.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6144768"/>
            <a:ext cx="9784080" cy="25603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B4C3DA"/>
                </a:solidFill>
                <a:latin typeface="Aptos"/>
              </a:rPr>
              <a:t>Dynamic sandboxing is reserved as a later phase if development time permits.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MALWARE SCANNER — STATIC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5440680" cy="11704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64008" cy="1170432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481328"/>
            <a:ext cx="505663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FILE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856231"/>
            <a:ext cx="5056632" cy="5120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B4C3DA"/>
                </a:solidFill>
                <a:latin typeface="Aptos"/>
              </a:rPr>
              <a:t>Magic bytes • MIME/file type • extension mismatch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325880"/>
            <a:ext cx="5440680" cy="11704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6208" y="1325880"/>
            <a:ext cx="64008" cy="1170432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7376" y="1481328"/>
            <a:ext cx="505663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HASHING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1856231"/>
            <a:ext cx="5056632" cy="5120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B4C3DA"/>
                </a:solidFill>
                <a:latin typeface="Aptos"/>
              </a:rPr>
              <a:t>MD5 • SHA-1 • SHA-256 • fuzzy 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5440680" cy="11704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64008" cy="1170432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2944368"/>
            <a:ext cx="505663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BINARY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319272"/>
            <a:ext cx="5056632" cy="5120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B4C3DA"/>
                </a:solidFill>
                <a:latin typeface="Aptos"/>
              </a:rPr>
              <a:t>Entropy • strings • PE headers • sections • imports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788920"/>
            <a:ext cx="5440680" cy="11704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6208" y="2788920"/>
            <a:ext cx="64008" cy="1170432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2944368"/>
            <a:ext cx="505663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DOCUMENT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319272"/>
            <a:ext cx="5056632" cy="5120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B4C3DA"/>
                </a:solidFill>
                <a:latin typeface="Aptos"/>
              </a:rPr>
              <a:t>PDF • Office • OLE • VBA/macros • embedded objects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51960"/>
            <a:ext cx="5440680" cy="11704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64008" cy="1170432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4407408"/>
            <a:ext cx="505663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ARCHIVE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782312"/>
            <a:ext cx="5056632" cy="5120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B4C3DA"/>
                </a:solidFill>
                <a:latin typeface="Aptos"/>
              </a:rPr>
              <a:t>ZIP/7z • nested files • encrypted archives • suspicious contents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251960"/>
            <a:ext cx="5440680" cy="1170432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36208" y="4251960"/>
            <a:ext cx="64008" cy="1170432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4407408"/>
            <a:ext cx="505663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SIGNATURE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782312"/>
            <a:ext cx="5056632" cy="512064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B4C3DA"/>
                </a:solidFill>
                <a:latin typeface="Aptos"/>
              </a:rPr>
              <a:t>YARA rules mapped to suspicious patterns and malware families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MALWARE SCANNER — THREAT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B4C3DA"/>
                </a:solidFill>
                <a:latin typeface="Aptos"/>
              </a:rPr>
              <a:t>EVIDENCE → CLASSIFICATION → THREAT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65960"/>
            <a:ext cx="2057400" cy="74980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075688"/>
            <a:ext cx="1984248" cy="50292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50" b="1" i="0">
                <a:solidFill>
                  <a:srgbClr val="B4C3DA"/>
                </a:solidFill>
                <a:latin typeface="Aptos"/>
              </a:rPr>
              <a:t>Static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965960"/>
            <a:ext cx="2057400" cy="74980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91256" y="2075688"/>
            <a:ext cx="1984248" cy="50292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50" b="1" i="0">
                <a:solidFill>
                  <a:srgbClr val="B4C3DA"/>
                </a:solidFill>
                <a:latin typeface="Aptos"/>
              </a:rPr>
              <a:t>YARA / Hash
Reputation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965960"/>
            <a:ext cx="2057400" cy="74980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51576" y="2075688"/>
            <a:ext cx="1984248" cy="50292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50" b="1" i="0">
                <a:solidFill>
                  <a:srgbClr val="B4C3DA"/>
                </a:solidFill>
                <a:latin typeface="Aptos"/>
              </a:rPr>
              <a:t>Correlation
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965960"/>
            <a:ext cx="2057400" cy="74980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1896" y="2075688"/>
            <a:ext cx="1984248" cy="50292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50" b="1" i="0">
                <a:solidFill>
                  <a:srgbClr val="B4C3DA"/>
                </a:solidFill>
                <a:latin typeface="Aptos"/>
              </a:rPr>
              <a:t>Classification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340864"/>
            <a:ext cx="502920" cy="0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12080" y="2340864"/>
            <a:ext cx="502920" cy="0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2340864"/>
            <a:ext cx="502920" cy="0"/>
          </a:xfrm>
          <a:prstGeom prst="line">
            <a:avLst/>
          </a:prstGeom>
          <a:ln w="20320">
            <a:solidFill>
              <a:srgbClr val="FF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" y="3246120"/>
            <a:ext cx="3246120" cy="1874519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246120"/>
            <a:ext cx="64008" cy="1874519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3401568"/>
            <a:ext cx="286207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POSSIBLE CLASSIFICATIONS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776472"/>
            <a:ext cx="2862072" cy="1216151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30" b="0" i="0">
                <a:solidFill>
                  <a:srgbClr val="B4C3DA"/>
                </a:solidFill>
                <a:latin typeface="Aptos"/>
              </a:rPr>
              <a:t>Trojan • RAT • Ransomware
Worm • Downloader • Botnet
Generic / Unknown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3246120"/>
            <a:ext cx="3246120" cy="1874519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69080" y="3246120"/>
            <a:ext cx="64008" cy="1874519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70248" y="3401568"/>
            <a:ext cx="286207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SCORE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3776472"/>
            <a:ext cx="2862072" cy="1216151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30" b="0" i="0">
                <a:solidFill>
                  <a:srgbClr val="B4C3DA"/>
                </a:solidFill>
                <a:latin typeface="Aptos"/>
              </a:rPr>
              <a:t>Known-bad hash • YARA severity
File anomalies • entropy
Threat-intelligence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3246120"/>
            <a:ext cx="3246120" cy="1874519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43800" y="3246120"/>
            <a:ext cx="64008" cy="1874519"/>
          </a:xfrm>
          <a:prstGeom prst="rect">
            <a:avLst/>
          </a:prstGeom>
          <a:solidFill>
            <a:srgbClr val="745DD2"/>
          </a:solidFill>
          <a:ln>
            <a:solidFill>
              <a:srgbClr val="745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44968" y="3401568"/>
            <a:ext cx="286207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EXPLAINABLE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3776472"/>
            <a:ext cx="2862072" cy="1216151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30" b="0" i="0">
                <a:solidFill>
                  <a:srgbClr val="B4C3DA"/>
                </a:solidFill>
                <a:latin typeface="Aptos"/>
              </a:rPr>
              <a:t>Verdict • confidence
Evidence behind classification
Recommended analyst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MALWARE SCANNER — DYNAMIC ANALYSIS (FUTURE)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B4C3DA"/>
                </a:solidFill>
                <a:latin typeface="Aptos"/>
              </a:rPr>
              <a:t>Only if time permits: execute the sample inside a disposable, isolated VM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1298448"/>
            <a:ext cx="4434840" cy="2331720"/>
          </a:xfrm>
          <a:prstGeom prst="roundRect">
            <a:avLst/>
          </a:prstGeom>
          <a:solidFill>
            <a:srgbClr val="3F1F1F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60520" y="1536192"/>
            <a:ext cx="388620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4C3DA"/>
                </a:solidFill>
                <a:latin typeface="Aptos"/>
              </a:rPr>
              <a:t>DISPOSABLE ANALYSIS 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148840"/>
            <a:ext cx="1143000" cy="68580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87952" y="2258568"/>
            <a:ext cx="1088136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B4C3DA"/>
                </a:solidFill>
                <a:latin typeface="Aptos"/>
              </a:rPr>
              <a:t>Process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2148840"/>
            <a:ext cx="1143000" cy="68580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59552" y="2258568"/>
            <a:ext cx="1088136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B4C3DA"/>
                </a:solidFill>
                <a:latin typeface="Aptos"/>
              </a:rPr>
              <a:t>File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148840"/>
            <a:ext cx="1143000" cy="68580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31152" y="2258568"/>
            <a:ext cx="1088136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B4C3DA"/>
                </a:solidFill>
                <a:latin typeface="Aptos"/>
              </a:rPr>
              <a:t>Network / DNS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B4C3DA"/>
                </a:solidFill>
                <a:latin typeface="Aptos"/>
              </a:rPr>
              <a:t>Controlled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41648"/>
            <a:ext cx="2587752" cy="148132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041648"/>
            <a:ext cx="64008" cy="1481328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4197096"/>
            <a:ext cx="2203704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572000"/>
            <a:ext cx="2203704" cy="8229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B4C3DA"/>
                </a:solidFill>
                <a:latin typeface="Aptos"/>
              </a:rPr>
              <a:t>Spawned processes
process relationships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6" y="4041648"/>
            <a:ext cx="2587752" cy="148132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19856" y="4041648"/>
            <a:ext cx="64008" cy="1481328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21024" y="4197096"/>
            <a:ext cx="2203704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4572000"/>
            <a:ext cx="2203704" cy="8229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B4C3DA"/>
                </a:solidFill>
                <a:latin typeface="Aptos"/>
              </a:rPr>
              <a:t>Created / modified
/dropped artifacts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4041648"/>
            <a:ext cx="2587752" cy="148132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2784" y="4041648"/>
            <a:ext cx="64008" cy="1481328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4197096"/>
            <a:ext cx="2203704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572000"/>
            <a:ext cx="2203704" cy="8229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B4C3DA"/>
                </a:solidFill>
                <a:latin typeface="Aptos"/>
              </a:rPr>
              <a:t>Registry changes
persistence indicators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5711" y="4041648"/>
            <a:ext cx="2587752" cy="1481328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25711" y="4041648"/>
            <a:ext cx="64008" cy="1481328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0" y="4197096"/>
            <a:ext cx="2203704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572000"/>
            <a:ext cx="2203704" cy="8229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B4C3DA"/>
                </a:solidFill>
                <a:latin typeface="Aptos"/>
              </a:rPr>
              <a:t>DNS • IPs • domains
connections / C2 indicators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97880"/>
            <a:ext cx="10744200" cy="34747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20" b="1" i="0">
                <a:solidFill>
                  <a:srgbClr val="B4C3DA"/>
                </a:solidFill>
                <a:latin typeface="Aptos"/>
              </a:rPr>
              <a:t>After analysis: collect telemetry → extract behavioral IOCs → revert/destroy VM → correlate results.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A92DB8-6C63-73F1-FE05-8F14A0523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9032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72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REPORT GENERATION — EVIDENCE TO DFIR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B4C3DA"/>
                </a:solidFill>
                <a:latin typeface="Aptos"/>
              </a:rPr>
              <a:t>Content placeholder — replace with the report material you will provide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5349240" cy="416052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64008" cy="4160520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572768"/>
            <a:ext cx="496519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1. INCIDENT / CASE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947672"/>
            <a:ext cx="4965192" cy="350215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B4C3DA"/>
                </a:solidFill>
                <a:latin typeface="Aptos"/>
              </a:rPr>
              <a:t>• Case ID and investigation timestamp
• Email and attachment under investigation
• Executive summary
• Overall severity / verdict
• Evidence sources and analysis status
This slide can later include the final Composite Risk Score and incident narrative.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17320"/>
            <a:ext cx="5349240" cy="416052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64008" cy="4160520"/>
          </a:xfrm>
          <a:prstGeom prst="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72768"/>
            <a:ext cx="496519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2. TECHNICAL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947672"/>
            <a:ext cx="4965192" cy="350215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B4C3DA"/>
                </a:solidFill>
                <a:latin typeface="Aptos"/>
              </a:rPr>
              <a:t>• Email security findings
• Malware analysis findings
• Threat-intelligence matches
• IOCs and supporting evidence
• Risk assessment
• Recommended containment / remediation
Report structure will be updated from the content you send.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REPORT GENERATION — RESPONSE &amp; IOC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B4C3DA"/>
                </a:solidFill>
                <a:latin typeface="Aptos"/>
              </a:rPr>
              <a:t>Content placeholder — final report/response content to be inserted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B4C3DA"/>
                </a:solidFill>
                <a:latin typeface="Aptos"/>
              </a:rPr>
              <a:t>INDICATORS OF COMPROMISE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47088"/>
            <a:ext cx="1993392" cy="68580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865376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B4C3DA"/>
                </a:solidFill>
                <a:latin typeface="Aptos"/>
              </a:rPr>
              <a:t>SHA-256 / file hash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1847088"/>
            <a:ext cx="1993392" cy="68580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71215" y="1947672"/>
            <a:ext cx="1865376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B4C3DA"/>
                </a:solidFill>
                <a:latin typeface="Aptos"/>
              </a:rPr>
              <a:t>Malicious domains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0056" y="1847088"/>
            <a:ext cx="1993392" cy="68580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4064" y="1947672"/>
            <a:ext cx="1865376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B4C3DA"/>
                </a:solidFill>
                <a:latin typeface="Aptos"/>
              </a:rPr>
              <a:t>IP addresses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2904" y="1847088"/>
            <a:ext cx="1993392" cy="68580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96912" y="1947672"/>
            <a:ext cx="1865376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B4C3DA"/>
                </a:solidFill>
                <a:latin typeface="Aptos"/>
              </a:rPr>
              <a:t>URLs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45752" y="1847088"/>
            <a:ext cx="1993392" cy="68580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0" y="1947672"/>
            <a:ext cx="1865376" cy="438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B4C3DA"/>
                </a:solidFill>
                <a:latin typeface="Aptos"/>
              </a:rPr>
              <a:t>Suspicious files / artifacts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971800"/>
            <a:ext cx="5303520" cy="224028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971800"/>
            <a:ext cx="64008" cy="2240280"/>
          </a:xfrm>
          <a:prstGeom prst="rect">
            <a:avLst/>
          </a:prstGeom>
          <a:solidFill>
            <a:srgbClr val="265CA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3127248"/>
            <a:ext cx="491947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RECOMMENDED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502152"/>
            <a:ext cx="4919472" cy="1581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B4C3DA"/>
                </a:solidFill>
                <a:latin typeface="Aptos"/>
              </a:rPr>
              <a:t>• Quarantine / contain confirmed malicious content
• Search for matching IOCs across the organization
• Block confirmed malicious infrastructure
• Preserve evidence and document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971800"/>
            <a:ext cx="5303520" cy="2240280"/>
          </a:xfrm>
          <a:prstGeom prst="roundRect">
            <a:avLst/>
          </a:prstGeom>
          <a:solidFill>
            <a:srgbClr val="0D1C3A"/>
          </a:solidFill>
          <a:ln>
            <a:solidFill>
              <a:srgbClr val="0D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971800"/>
            <a:ext cx="64008" cy="2240280"/>
          </a:xfrm>
          <a:prstGeom prst="rect">
            <a:avLst/>
          </a:prstGeom>
          <a:solidFill>
            <a:srgbClr val="745DD2"/>
          </a:solidFill>
          <a:ln>
            <a:solidFill>
              <a:srgbClr val="745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3127248"/>
            <a:ext cx="4919472" cy="310896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B4C3DA"/>
                </a:solidFill>
                <a:latin typeface="Aptos"/>
              </a:rPr>
              <a:t>FUTURE THREAT SHARING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502152"/>
            <a:ext cx="4919472" cy="158191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B4C3DA"/>
                </a:solidFill>
                <a:latin typeface="Aptos"/>
              </a:rPr>
              <a:t>• Normalize discovered IOCs
• Correlate repeated samples / campaigns
• Share authorized intelligence with relevant security teams
• Maintain privacy and access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 Display"/>
              </a:rPr>
              <a:t>END-TO-END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2423160" cy="1965960"/>
          </a:xfrm>
          <a:prstGeom prst="roundRect">
            <a:avLst/>
          </a:prstGeom>
          <a:solidFill>
            <a:srgbClr val="0D1C3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2084831"/>
            <a:ext cx="2276856" cy="3657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B4C3DA"/>
                </a:solidFill>
                <a:latin typeface="Aptos"/>
              </a:rPr>
              <a:t>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B4C3DA"/>
                </a:solidFill>
                <a:latin typeface="Aptos"/>
              </a:rPr>
              <a:t>Gmail API
Email forensics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0088" y="2496312"/>
            <a:ext cx="365760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4FCDE8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828800"/>
            <a:ext cx="2423160" cy="1965960"/>
          </a:xfrm>
          <a:prstGeom prst="roundRect">
            <a:avLst/>
          </a:prstGeom>
          <a:solidFill>
            <a:srgbClr val="0D1C3A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2084831"/>
            <a:ext cx="2276856" cy="3657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B4C3DA"/>
                </a:solidFill>
                <a:latin typeface="Aptos"/>
              </a:rPr>
              <a:t>MALWARE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B4C3DA"/>
                </a:solidFill>
                <a:latin typeface="Aptos"/>
              </a:rPr>
              <a:t>Static analysis
Dynamic analysis*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016" y="2496312"/>
            <a:ext cx="365760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4FCDE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828800"/>
            <a:ext cx="2423160" cy="1965960"/>
          </a:xfrm>
          <a:prstGeom prst="roundRect">
            <a:avLst/>
          </a:prstGeom>
          <a:solidFill>
            <a:srgbClr val="0D1C3A"/>
          </a:solidFill>
          <a:ln>
            <a:solidFill>
              <a:srgbClr val="745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928" y="2084831"/>
            <a:ext cx="2276856" cy="3657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B4C3DA"/>
                </a:solidFill>
                <a:latin typeface="Aptos"/>
              </a:rPr>
              <a:t>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B4C3DA"/>
                </a:solidFill>
                <a:latin typeface="Aptos"/>
              </a:rPr>
              <a:t>Trust + threat
Composite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5944" y="2496312"/>
            <a:ext cx="365760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4FCDE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704" y="1828800"/>
            <a:ext cx="2423160" cy="1965960"/>
          </a:xfrm>
          <a:prstGeom prst="roundRect">
            <a:avLst/>
          </a:prstGeom>
          <a:solidFill>
            <a:srgbClr val="0D1C3A"/>
          </a:solidFill>
          <a:ln>
            <a:solidFill>
              <a:srgbClr val="745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34856" y="2084831"/>
            <a:ext cx="2276856" cy="3657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B4C3DA"/>
                </a:solidFill>
                <a:latin typeface="Aptos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B4C3DA"/>
                </a:solidFill>
                <a:latin typeface="Aptos"/>
              </a:rPr>
              <a:t>DFIR assessment
IOCs +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10241280" cy="32004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1">
                <a:solidFill>
                  <a:srgbClr val="B4C3DA"/>
                </a:solidFill>
                <a:latin typeface="Aptos"/>
              </a:rPr>
              <a:t>* Dynamic analysis is an optional advanced phase after the static malware-analysis MVP.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B4C3DA"/>
                </a:solidFill>
                <a:latin typeface="Aptos"/>
              </a:rPr>
              <a:t>DETECT  •  ANALYZE  •  CORRELATE  •  EXPLAIN  •  RESPOND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608B64-60EE-DB8B-CC57-BFBE19C03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04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48840"/>
            <a:ext cx="10698480" cy="82296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3800" b="1" i="0">
                <a:solidFill>
                  <a:srgbClr val="F5F8FC"/>
                </a:solidFill>
                <a:latin typeface="Aptos Display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63240"/>
            <a:ext cx="9966960" cy="45720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B4C3DA"/>
                </a:solidFill>
                <a:latin typeface="Aptos"/>
              </a:rPr>
              <a:t>Email → Malware → Correlation → DFIR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22191"/>
            <a:ext cx="9966960" cy="411480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4FCDE8"/>
                </a:solidFill>
                <a:latin typeface="Aptos"/>
              </a:rPr>
              <a:t>Questions /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4C3DA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45000"/>
          </a:xfrm>
          <a:prstGeom prst="rect">
            <a:avLst/>
          </a:prstGeom>
          <a:solidFill>
            <a:srgbClr val="4F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1072</Words>
  <Application>Microsoft Office PowerPoint</Application>
  <PresentationFormat>Widescreen</PresentationFormat>
  <Paragraphs>166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Hasini uppalanchi</dc:creator>
  <cp:keywords/>
  <dc:description>generated using python-pptx</dc:description>
  <cp:lastModifiedBy>TIYASHA DASGUPTA (RA2511030010398)</cp:lastModifiedBy>
  <cp:revision>3</cp:revision>
  <dcterms:created xsi:type="dcterms:W3CDTF">2013-01-27T09:14:16Z</dcterms:created>
  <dcterms:modified xsi:type="dcterms:W3CDTF">2026-09-17T12:52:40Z</dcterms:modified>
  <cp:category/>
</cp:coreProperties>
</file>